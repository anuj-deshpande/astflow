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youtu.be/zBjj9Nmn_7I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- 1 (Agentic Code Intelligence)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ByteCoders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VIT Vellore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Aarush Shetty - aarush.shetty2024@vitstudent.ac.in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Harsh Jha - harsh.jha2024a@vitstudent.ac.in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Anuj Deshpande - anuj.deshpande2024@vitstudent.ac.in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 N/A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github.com/ANUJ-DESHPANDE/ASTFLOW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sz="1450">
                <a:solidFill>
                  <a:srgbClr val="63637E"/>
                </a:solidFill>
                <a:latin typeface="Calibri"/>
              </a:rP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8288" lIns="18288" spcFirstLastPara="1" rIns="18288" wrap="square" tIns="36576">
            <a:normAutofit/>
          </a:bodyPr>
          <a:lstStyle/>
          <a:p>
            <a:pPr indent="-50800" marL="228600" rtl="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</a:pPr>
            <a:r>
              <a:rPr sz="1900" b="0">
                <a:solidFill>
                  <a:srgbClr val="63637E"/>
                </a:solidFill>
                <a:latin typeface="Calibri"/>
              </a:rPr>
              <a:t>• Theme ID: 1 - Agentic Code Intelligence.</a:t>
            </a:r>
            <a:endParaRPr/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900" b="0">
                <a:solidFill>
                  <a:srgbClr val="63637E"/>
                </a:solidFill>
                <a:latin typeface="Calibri"/>
              </a:rPr>
              <a:t>• ASTFLOW is an evidence-first code intelligence system for understanding, searching and reasoning over software repositories.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900" b="0">
                <a:solidFill>
                  <a:srgbClr val="63637E"/>
                </a:solidFill>
                <a:latin typeface="Calibri"/>
              </a:rPr>
              <a:t>• It combines lexical search, semantic retrieval and repository structure so developer questions are answered from relevant code evidence.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900" b="0">
                <a:solidFill>
                  <a:srgbClr val="63637E"/>
                </a:solidFill>
                <a:latin typeface="Calibri"/>
              </a:rPr>
              <a:t>• The product exposes repository exploration, search and grounded agent workflows through a practical application interface.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900" b="0">
                <a:solidFill>
                  <a:srgbClr val="63637E"/>
                </a:solidFill>
                <a:latin typeface="Calibri"/>
              </a:rPr>
              <a:t>• Goal: reduce the time spent locating implementation details and improve the context supplied to coding agents.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8288" lIns="18288" spcFirstLastPara="1" rIns="18288" wrap="square" tIns="36576">
            <a:normAutofit/>
          </a:bodyPr>
          <a:lstStyle/>
          <a:p>
            <a:pPr indent="-50800" marL="228600" rtl="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</a:pPr>
            <a:r>
              <a:rPr sz="1850" b="0">
                <a:solidFill>
                  <a:srgbClr val="63637E"/>
                </a:solidFill>
                <a:latin typeface="Calibri"/>
              </a:rPr>
              <a:t>• IDE / grep search: strong for exact strings and identifiers, but weak for intent-level and cross-file questions.</a:t>
            </a:r>
            <a:endParaRPr/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50" b="0">
                <a:solidFill>
                  <a:srgbClr val="63637E"/>
                </a:solidFill>
                <a:latin typeface="Calibri"/>
              </a:rPr>
              <a:t>• Vector-only search: captures semantic similarity, but can miss rare identifiers, symbols and exact code tokens.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50" b="0">
                <a:solidFill>
                  <a:srgbClr val="63637E"/>
                </a:solidFill>
                <a:latin typeface="Calibri"/>
              </a:rPr>
              <a:t>• Generic repository chat: convenient, but answers can become weakly grounded, stale or hard to verify.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50" b="0">
                <a:solidFill>
                  <a:srgbClr val="63637E"/>
                </a:solidFill>
                <a:latin typeface="Calibri"/>
              </a:rPr>
              <a:t>• Static repository/dependency maps: useful for orientation, but often disconnected from search and question-answering workflows.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50" b="0">
                <a:solidFill>
                  <a:srgbClr val="63637E"/>
                </a:solidFill>
                <a:latin typeface="Calibri"/>
              </a:rPr>
              <a:t>• Gap addressed by ASTFLOW: one workflow that combines hybrid retrieval, repository structure, grounded evidence and refreshable indexing.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929640" y="2392553"/>
            <a:ext cx="1444752" cy="960120"/>
          </a:xfrm>
          <a:prstGeom prst="roundRect">
            <a:avLst/>
          </a:prstGeom>
          <a:solidFill>
            <a:srgbClr val="F6F3FC"/>
          </a:solidFill>
          <a:ln w="1905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704EA6"/>
                </a:solidFill>
                <a:latin typeface="Calibri"/>
              </a:rPr>
              <a:t>Repository</a:t>
            </a:r>
          </a:p>
          <a:p>
            <a:pPr algn="ctr">
              <a:spcBef>
                <a:spcPts val="100"/>
              </a:spcBef>
            </a:pPr>
            <a:r>
              <a:rPr sz="1100" b="0">
                <a:solidFill>
                  <a:srgbClr val="63637E"/>
                </a:solidFill>
                <a:latin typeface="Calibri"/>
              </a:rPr>
              <a:t>source tree + changes</a:t>
            </a:r>
          </a:p>
        </p:txBody>
      </p:sp>
      <p:sp>
        <p:nvSpPr>
          <p:cNvPr id="116" name="Right Arrow 115"/>
          <p:cNvSpPr/>
          <p:nvPr/>
        </p:nvSpPr>
        <p:spPr>
          <a:xfrm>
            <a:off x="2401824" y="2749169"/>
            <a:ext cx="109728" cy="237744"/>
          </a:xfrm>
          <a:prstGeom prst="rightArrow">
            <a:avLst/>
          </a:prstGeom>
          <a:solidFill>
            <a:srgbClr val="70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2538984" y="2392553"/>
            <a:ext cx="1444752" cy="960120"/>
          </a:xfrm>
          <a:prstGeom prst="roundRect">
            <a:avLst/>
          </a:prstGeom>
          <a:solidFill>
            <a:srgbClr val="F6F3FC"/>
          </a:solidFill>
          <a:ln w="1905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704EA6"/>
                </a:solidFill>
                <a:latin typeface="Calibri"/>
              </a:rPr>
              <a:t>Indexer</a:t>
            </a:r>
          </a:p>
          <a:p>
            <a:pPr algn="ctr">
              <a:spcBef>
                <a:spcPts val="100"/>
              </a:spcBef>
            </a:pPr>
            <a:r>
              <a:rPr sz="1100" b="0">
                <a:solidFill>
                  <a:srgbClr val="63637E"/>
                </a:solidFill>
                <a:latin typeface="Calibri"/>
              </a:rPr>
              <a:t>chunks + metadata</a:t>
            </a:r>
          </a:p>
        </p:txBody>
      </p:sp>
      <p:sp>
        <p:nvSpPr>
          <p:cNvPr id="118" name="Right Arrow 117"/>
          <p:cNvSpPr/>
          <p:nvPr/>
        </p:nvSpPr>
        <p:spPr>
          <a:xfrm>
            <a:off x="4011168" y="2749169"/>
            <a:ext cx="109728" cy="237744"/>
          </a:xfrm>
          <a:prstGeom prst="rightArrow">
            <a:avLst/>
          </a:prstGeom>
          <a:solidFill>
            <a:srgbClr val="70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4148328" y="2392553"/>
            <a:ext cx="1444752" cy="960120"/>
          </a:xfrm>
          <a:prstGeom prst="roundRect">
            <a:avLst/>
          </a:prstGeom>
          <a:solidFill>
            <a:srgbClr val="F6F3FC"/>
          </a:solidFill>
          <a:ln w="1905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704EA6"/>
                </a:solidFill>
                <a:latin typeface="Calibri"/>
              </a:rPr>
              <a:t>Hybrid Search</a:t>
            </a:r>
          </a:p>
          <a:p>
            <a:pPr algn="ctr">
              <a:spcBef>
                <a:spcPts val="100"/>
              </a:spcBef>
            </a:pPr>
            <a:r>
              <a:rPr sz="1100" b="0">
                <a:solidFill>
                  <a:srgbClr val="63637E"/>
                </a:solidFill>
                <a:latin typeface="Calibri"/>
              </a:rPr>
              <a:t>BM25 + dense</a:t>
            </a:r>
          </a:p>
        </p:txBody>
      </p:sp>
      <p:sp>
        <p:nvSpPr>
          <p:cNvPr id="120" name="Right Arrow 119"/>
          <p:cNvSpPr/>
          <p:nvPr/>
        </p:nvSpPr>
        <p:spPr>
          <a:xfrm>
            <a:off x="5620512" y="2749169"/>
            <a:ext cx="109728" cy="237744"/>
          </a:xfrm>
          <a:prstGeom prst="rightArrow">
            <a:avLst/>
          </a:prstGeom>
          <a:solidFill>
            <a:srgbClr val="70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757672" y="2392553"/>
            <a:ext cx="1444752" cy="960120"/>
          </a:xfrm>
          <a:prstGeom prst="roundRect">
            <a:avLst/>
          </a:prstGeom>
          <a:solidFill>
            <a:srgbClr val="F6F3FC"/>
          </a:solidFill>
          <a:ln w="1905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704EA6"/>
                </a:solidFill>
                <a:latin typeface="Calibri"/>
              </a:rPr>
              <a:t>Evidence</a:t>
            </a:r>
          </a:p>
          <a:p>
            <a:pPr algn="ctr">
              <a:spcBef>
                <a:spcPts val="100"/>
              </a:spcBef>
            </a:pPr>
            <a:r>
              <a:rPr sz="1100" b="0">
                <a:solidFill>
                  <a:srgbClr val="63637E"/>
                </a:solidFill>
                <a:latin typeface="Calibri"/>
              </a:rPr>
              <a:t>files + symbols + lines</a:t>
            </a:r>
          </a:p>
        </p:txBody>
      </p:sp>
      <p:sp>
        <p:nvSpPr>
          <p:cNvPr id="122" name="Right Arrow 121"/>
          <p:cNvSpPr/>
          <p:nvPr/>
        </p:nvSpPr>
        <p:spPr>
          <a:xfrm>
            <a:off x="7229856" y="2749169"/>
            <a:ext cx="109728" cy="237744"/>
          </a:xfrm>
          <a:prstGeom prst="rightArrow">
            <a:avLst/>
          </a:prstGeom>
          <a:solidFill>
            <a:srgbClr val="70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7367016" y="2392553"/>
            <a:ext cx="1444752" cy="960120"/>
          </a:xfrm>
          <a:prstGeom prst="roundRect">
            <a:avLst/>
          </a:prstGeom>
          <a:solidFill>
            <a:srgbClr val="F6F3FC"/>
          </a:solidFill>
          <a:ln w="1905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704EA6"/>
                </a:solidFill>
                <a:latin typeface="Calibri"/>
              </a:rPr>
              <a:t>Search API</a:t>
            </a:r>
          </a:p>
          <a:p>
            <a:pPr algn="ctr">
              <a:spcBef>
                <a:spcPts val="100"/>
              </a:spcBef>
            </a:pPr>
            <a:r>
              <a:rPr sz="1100" b="0">
                <a:solidFill>
                  <a:srgbClr val="63637E"/>
                </a:solidFill>
                <a:latin typeface="Calibri"/>
              </a:rPr>
              <a:t>stable query surface</a:t>
            </a:r>
          </a:p>
        </p:txBody>
      </p:sp>
      <p:sp>
        <p:nvSpPr>
          <p:cNvPr id="124" name="Right Arrow 123"/>
          <p:cNvSpPr/>
          <p:nvPr/>
        </p:nvSpPr>
        <p:spPr>
          <a:xfrm>
            <a:off x="8839200" y="2749169"/>
            <a:ext cx="109728" cy="237744"/>
          </a:xfrm>
          <a:prstGeom prst="rightArrow">
            <a:avLst/>
          </a:prstGeom>
          <a:solidFill>
            <a:srgbClr val="70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8976360" y="2392553"/>
            <a:ext cx="1444752" cy="960120"/>
          </a:xfrm>
          <a:prstGeom prst="roundRect">
            <a:avLst/>
          </a:prstGeom>
          <a:solidFill>
            <a:srgbClr val="F6F3FC"/>
          </a:solidFill>
          <a:ln w="1905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704EA6"/>
                </a:solidFill>
                <a:latin typeface="Calibri"/>
              </a:rPr>
              <a:t>UI / Agent</a:t>
            </a:r>
          </a:p>
          <a:p>
            <a:pPr algn="ctr">
              <a:spcBef>
                <a:spcPts val="100"/>
              </a:spcBef>
            </a:pPr>
            <a:r>
              <a:rPr sz="1100" b="0">
                <a:solidFill>
                  <a:srgbClr val="63637E"/>
                </a:solidFill>
                <a:latin typeface="Calibri"/>
              </a:rPr>
              <a:t>map + grounded answers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75360" y="3855593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0">
                <a:solidFill>
                  <a:srgbClr val="63637E"/>
                </a:solidFill>
                <a:latin typeface="Calibri"/>
              </a:rPr>
              <a:t>• Incremental indexing: refresh changed files instead of rebuilding the entire repository.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75360" y="4358513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0">
                <a:solidFill>
                  <a:srgbClr val="63637E"/>
                </a:solidFill>
                <a:latin typeface="Calibri"/>
              </a:rPr>
              <a:t>• Grounding: answers are generated from retrieved repository evidence and source locations.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75360" y="4861433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0">
                <a:solidFill>
                  <a:srgbClr val="63637E"/>
                </a:solidFill>
                <a:latin typeface="Calibri"/>
              </a:rPr>
              <a:t>• Validation: tests and benchmark artifacts are used to verify retrieval and release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8288" lIns="18288" spcFirstLastPara="1" rIns="18288" wrap="square" tIns="36576">
            <a:normAutofit/>
          </a:bodyPr>
          <a:lstStyle/>
          <a:p>
            <a:pPr indent="-50800" marL="228600" rtl="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sz="1750" b="0">
                <a:solidFill>
                  <a:srgbClr val="63637E"/>
                </a:solidFill>
                <a:latin typeface="Calibri"/>
              </a:rPr>
              <a:t>• 0:00-0:45 - Open ASTFLOW and index a repository; show that code is converted into searchable evidence.</a:t>
            </a:r>
            <a:endParaRPr/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50" b="0">
                <a:solidFill>
                  <a:srgbClr val="63637E"/>
                </a:solidFill>
                <a:latin typeface="Calibri"/>
              </a:rPr>
              <a:t>• 0:45-1:35 - Explore the repository map to understand files/modules and navigate the codebase visually.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50" b="0">
                <a:solidFill>
                  <a:srgbClr val="63637E"/>
                </a:solidFill>
                <a:latin typeface="Calibri"/>
              </a:rPr>
              <a:t>• 1:35-2:30 - Run an exact identifier query and a natural-language concept query to demonstrate hybrid retrieval.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50" b="0">
                <a:solidFill>
                  <a:srgbClr val="63637E"/>
                </a:solidFill>
                <a:latin typeface="Calibri"/>
              </a:rPr>
              <a:t>• 2:30-3:45 - Ask a repository question; show the answer together with file/symbol/line evidence used for grounding.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50" b="0">
                <a:solidFill>
                  <a:srgbClr val="63637E"/>
                </a:solidFill>
                <a:latin typeface="Calibri"/>
              </a:rPr>
              <a:t>• 3:45-4:35 - Modify a file and refresh the index to demonstrate incremental update behavior.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50" b="0">
                <a:solidFill>
                  <a:srgbClr val="63637E"/>
                </a:solidFill>
                <a:latin typeface="Calibri"/>
              </a:rPr>
              <a:t>• 4:35-5:00 - Re-run the query, show fresh evidence, then close on the public GitHub and reproducible setup.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8288" lIns="18288" spcFirstLastPara="1" rIns="18288" wrap="square" tIns="36576">
            <a:normAutofit/>
          </a:bodyPr>
          <a:lstStyle/>
          <a:p>
            <a:pPr indent="-50800" marL="228600" rtl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2800"/>
              <a:buNone/>
            </a:pPr>
            <a:r>
              <a:rPr sz="1750" b="0">
                <a:solidFill>
                  <a:srgbClr val="63637E"/>
                </a:solidFill>
                <a:latin typeface="Calibri"/>
              </a:rPr>
              <a:t>• Python - indexing, retrieval, benchmarking and server-side product logic.</a:t>
            </a:r>
            <a:endParaRPr/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50" b="0">
                <a:solidFill>
                  <a:srgbClr val="63637E"/>
                </a:solidFill>
                <a:latin typeface="Calibri"/>
              </a:rPr>
              <a:t>• BM25 + dense retrieval + hybrid fusion - combines exact-token precision with semantic relevance.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50" b="0">
                <a:solidFill>
                  <a:srgbClr val="63637E"/>
                </a:solidFill>
                <a:latin typeface="Calibri"/>
              </a:rPr>
              <a:t>• PyTorch / Hugging Face - local dense-model execution where enabled.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50" b="0">
                <a:solidFill>
                  <a:srgbClr val="63637E"/>
                </a:solidFill>
                <a:latin typeface="Calibri"/>
              </a:rPr>
              <a:t>• TypeScript frontend - repository map, search and interactive product workflow.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50" b="0">
                <a:solidFill>
                  <a:srgbClr val="63637E"/>
                </a:solidFill>
                <a:latin typeface="Calibri"/>
              </a:rPr>
              <a:t>• Language-aware code extraction - file/symbol metadata and structural enrichment.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50" b="0">
                <a:solidFill>
                  <a:srgbClr val="63637E"/>
                </a:solidFill>
                <a:latin typeface="Calibri"/>
              </a:rPr>
              <a:t>• pytest + benchmark harness - correctness tests and retrieval evaluation using metrics such as NDCG@10 and MRR.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50" b="0">
                <a:solidFill>
                  <a:srgbClr val="63637E"/>
                </a:solidFill>
                <a:latin typeface="Calibri"/>
              </a:rPr>
              <a:t>• Git + GitHub - public code, reproducible setup, experiment history and release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8288" lIns="18288" spcFirstLastPara="1" rIns="18288" wrap="square" tIns="36576">
            <a:normAutofit/>
          </a:bodyPr>
          <a:lstStyle/>
          <a:p>
            <a:pPr indent="-50800" marL="228600" rtl="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sz="1800" b="0">
                <a:solidFill>
                  <a:srgbClr val="63637E"/>
                </a:solidFill>
                <a:latin typeface="Calibri"/>
              </a:rPr>
              <a:t>• Developer onboarding - understand an unfamiliar repository without manually opening dozens of files.</a:t>
            </a:r>
            <a:endParaRPr/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63637E"/>
                </a:solidFill>
                <a:latin typeface="Calibri"/>
              </a:rPr>
              <a:t>• Debugging and root-cause analysis - retrieve the code most relevant to a behavior and follow supporting structure.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63637E"/>
                </a:solidFill>
                <a:latin typeface="Calibri"/>
              </a:rPr>
              <a:t>• Refactoring and change-impact analysis - identify connected files/symbols before changing shared functionality.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63637E"/>
                </a:solidFill>
                <a:latin typeface="Calibri"/>
              </a:rPr>
              <a:t>• Code review - gather context around changed files and related implementation quickly.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63637E"/>
                </a:solidFill>
                <a:latin typeface="Calibri"/>
              </a:rPr>
              <a:t>• Agentic coding - provide coding agents with fresh repository-specific evidence instead of oversized context dumps.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63637E"/>
                </a:solidFill>
                <a:latin typeface="Calibri"/>
              </a:rPr>
              <a:t>• Maintenance/support - answer questions such as "where is this implemented?" with traceable repository sources.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8288" lIns="18288" spcFirstLastPara="1" rIns="18288" wrap="square" tIns="36576">
            <a:normAutofit/>
          </a:bodyPr>
          <a:lstStyle/>
          <a:p>
            <a:pPr indent="-50800" marL="228600" rtl="0"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Clr>
                <a:schemeClr val="dk1"/>
              </a:buClr>
              <a:buSzPts val="2800"/>
              <a:buNone/>
            </a:pPr>
            <a:r>
              <a:rPr sz="1680" b="0">
                <a:solidFill>
                  <a:srgbClr val="63637E"/>
                </a:solidFill>
                <a:latin typeface="Calibri"/>
              </a:rPr>
              <a:t>• Innovation: hybrid retrieval joins lexical and semantic signals rather than depending on a single search method.</a:t>
            </a:r>
            <a:endParaRPr/>
          </a:p>
          <a:p>
            <a:pPr algn="l">
              <a:lnSpc>
                <a:spcPct val="105000"/>
              </a:lnSpc>
              <a:spcAft>
                <a:spcPts val="450"/>
              </a:spcAft>
            </a:pPr>
            <a:r>
              <a:rPr sz="1680" b="0">
                <a:solidFill>
                  <a:srgbClr val="63637E"/>
                </a:solidFill>
                <a:latin typeface="Calibri"/>
              </a:rPr>
              <a:t>• Innovation: repository structure, search and grounded question-answering are presented in one developer workflow.</a:t>
            </a:r>
          </a:p>
          <a:p>
            <a:pPr algn="l">
              <a:lnSpc>
                <a:spcPct val="105000"/>
              </a:lnSpc>
              <a:spcAft>
                <a:spcPts val="450"/>
              </a:spcAft>
            </a:pPr>
            <a:r>
              <a:rPr sz="1680" b="0">
                <a:solidFill>
                  <a:srgbClr val="63637E"/>
                </a:solidFill>
                <a:latin typeface="Calibri"/>
              </a:rPr>
              <a:t>• Innovation: incremental indexing is designed to keep repeated searches closer to the latest code state.</a:t>
            </a:r>
          </a:p>
          <a:p>
            <a:pPr algn="l">
              <a:lnSpc>
                <a:spcPct val="105000"/>
              </a:lnSpc>
              <a:spcAft>
                <a:spcPts val="450"/>
              </a:spcAft>
            </a:pPr>
            <a:r>
              <a:rPr sz="1680" b="0">
                <a:solidFill>
                  <a:srgbClr val="63637E"/>
                </a:solidFill>
                <a:latin typeface="Calibri"/>
              </a:rPr>
              <a:t>• Result: an end-to-end prototype with indexing, retrieval, API/UI flows and repository-grounded answers.</a:t>
            </a:r>
          </a:p>
          <a:p>
            <a:pPr algn="l">
              <a:lnSpc>
                <a:spcPct val="105000"/>
              </a:lnSpc>
              <a:spcAft>
                <a:spcPts val="450"/>
              </a:spcAft>
            </a:pPr>
            <a:r>
              <a:rPr sz="1680" b="0">
                <a:solidFill>
                  <a:srgbClr val="63637E"/>
                </a:solidFill>
                <a:latin typeface="Calibri"/>
              </a:rPr>
              <a:t>• Result: retrieval quality is measured through a reproducible benchmark harness rather than subjective demo-only evaluation.</a:t>
            </a:r>
          </a:p>
          <a:p>
            <a:pPr algn="l">
              <a:lnSpc>
                <a:spcPct val="105000"/>
              </a:lnSpc>
              <a:spcAft>
                <a:spcPts val="450"/>
              </a:spcAft>
            </a:pPr>
            <a:r>
              <a:rPr sz="1680" b="0">
                <a:solidFill>
                  <a:srgbClr val="63637E"/>
                </a:solidFill>
                <a:latin typeface="Calibri"/>
              </a:rPr>
              <a:t>• Limitation: first-time indexing can be compute/model dependent on larger repositories.</a:t>
            </a:r>
          </a:p>
          <a:p>
            <a:pPr algn="l">
              <a:lnSpc>
                <a:spcPct val="105000"/>
              </a:lnSpc>
              <a:spcAft>
                <a:spcPts val="450"/>
              </a:spcAft>
            </a:pPr>
            <a:r>
              <a:rPr sz="1680" b="0">
                <a:solidFill>
                  <a:srgbClr val="63637E"/>
                </a:solidFill>
                <a:latin typeface="Calibri"/>
              </a:rPr>
              <a:t>• Limitation: dense retrieval requires compatible local model assets; quality can vary across languages and repository conventions.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8288" lIns="18288" spcFirstLastPara="1" rIns="18288" wrap="square" tIns="36576">
            <a:normAutofit/>
          </a:bodyPr>
          <a:lstStyle/>
          <a:p>
            <a:pPr indent="-50800" marL="228600" rtl="0"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chemeClr val="dk1"/>
              </a:buClr>
              <a:buSzPts val="2800"/>
              <a:buNone/>
            </a:pPr>
            <a:r>
              <a:rPr sz="1800" b="0">
                <a:solidFill>
                  <a:srgbClr val="63637E"/>
                </a:solidFill>
                <a:latin typeface="Calibri"/>
              </a:rPr>
              <a:t>• Improve indexing throughput and cache reuse for larger repositories.</a:t>
            </a:r>
            <a:endParaRPr/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0">
                <a:solidFill>
                  <a:srgbClr val="63637E"/>
                </a:solidFill>
                <a:latin typeface="Calibri"/>
              </a:rPr>
              <a:t>• Expand language-specific symbol, call and dependency extraction.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0">
                <a:solidFill>
                  <a:srgbClr val="63637E"/>
                </a:solidFill>
                <a:latin typeface="Calibri"/>
              </a:rPr>
              <a:t>• Add reranking only when it demonstrates repeatable gains against the frozen evaluation protocol.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0">
                <a:solidFill>
                  <a:srgbClr val="63637E"/>
                </a:solidFill>
                <a:latin typeface="Calibri"/>
              </a:rPr>
              <a:t>• Extend intelligence across multiple related repositories and shared services.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0">
                <a:solidFill>
                  <a:srgbClr val="63637E"/>
                </a:solidFill>
                <a:latin typeface="Calibri"/>
              </a:rPr>
              <a:t>• Move toward IDE-native workflows so grounded repository context is available while developers code.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0">
                <a:solidFill>
                  <a:srgbClr val="63637E"/>
                </a:solidFill>
                <a:latin typeface="Calibri"/>
              </a:rPr>
              <a:t>• Add enterprise-ready controls such as private deployment, permissions, audit trails and policy-aware agent 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8288" lIns="18288" spcFirstLastPara="1" rIns="18288" wrap="square" tIns="36576">
            <a:normAutofit/>
          </a:bodyPr>
          <a:lstStyle/>
          <a:p>
            <a:pPr indent="-50800" marL="228600" rtl="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</a:pPr>
            <a:r>
              <a:rPr sz="1800" b="0">
                <a:solidFill>
                  <a:srgbClr val="63637E"/>
                </a:solidFill>
                <a:latin typeface="Calibri"/>
              </a:rPr>
              <a:t>• Evidence before eloquence - answers are expected to trace back to repository code, not rely on free-form model memory.</a:t>
            </a:r>
            <a:endParaRPr/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>
                <a:solidFill>
                  <a:srgbClr val="63637E"/>
                </a:solidFill>
                <a:latin typeface="Calibri"/>
              </a:rPr>
              <a:t>• Hybrid retrieval - exact identifiers and semantic intent both influence what context the system retrieves.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>
                <a:solidFill>
                  <a:srgbClr val="63637E"/>
                </a:solidFill>
                <a:latin typeface="Calibri"/>
              </a:rPr>
              <a:t>• Map + search + agent - repository structure remains visible to the user instead of being hidden inside a prompt.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>
                <a:solidFill>
                  <a:srgbClr val="63637E"/>
                </a:solidFill>
                <a:latin typeface="Calibri"/>
              </a:rPr>
              <a:t>• Freshness by design - incremental indexing reduces stale-context risk after code changes.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>
                <a:solidFill>
                  <a:srgbClr val="63637E"/>
                </a:solidFill>
                <a:latin typeface="Calibri"/>
              </a:rPr>
              <a:t>• Reproducible engineering - benchmark artifacts, tests and documented experiment outcomes are treated as product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4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(Y/N): Y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4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(Y/N): Y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4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Demo video, max 5 minutes (YouTube or Drive link): youtu.be/zBjj9Nmn_7I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4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(Y/N): Y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